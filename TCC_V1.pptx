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sldIdLst>
    <p:sldId id="256" r:id="rId2"/>
    <p:sldId id="257" r:id="rId3"/>
    <p:sldId id="266" r:id="rId4"/>
    <p:sldId id="259" r:id="rId5"/>
    <p:sldId id="258" r:id="rId6"/>
    <p:sldId id="260" r:id="rId7"/>
    <p:sldId id="265" r:id="rId8"/>
    <p:sldId id="262" r:id="rId9"/>
    <p:sldId id="261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943A07-6C94-43AA-B19B-7B36D696BA28}" v="310" dt="2019-02-07T01:13:09.170"/>
    <p1510:client id="{728651B9-2CF7-4D4A-BD66-85046A8D24D6}" v="661" dt="2019-02-07T02:07:13.049"/>
    <p1510:client id="{239C8212-CD0B-4351-B52F-23988243F968}" v="696" dt="2019-02-07T02:04:17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0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 dirty="0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314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158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442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273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158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655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3674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852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dirty="0"/>
              <a:t>Clique para editar os estilos do texto de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8214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548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413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 dirty="0"/>
              <a:t>Clique para editar os estilos do texto de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03/06/2019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6758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FDD9264-A478-4B82-A891-2BEA8BF9F6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4" descr="Uma imagem com pessoa, mulher, vestuário, cansativo&#10;&#10;Descrição gerada com confiança alta">
            <a:extLst>
              <a:ext uri="{FF2B5EF4-FFF2-40B4-BE49-F238E27FC236}">
                <a16:creationId xmlns:a16="http://schemas.microsoft.com/office/drawing/2014/main" id="{F1D9BF34-97B6-4207-9A1B-517A5C523C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02" r="-1" b="5606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4D755E9-CEF5-43A7-A514-4664F25F39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685070" cy="3255264"/>
          </a:xfrm>
        </p:spPr>
        <p:txBody>
          <a:bodyPr>
            <a:normAutofit fontScale="90000"/>
          </a:bodyPr>
          <a:lstStyle/>
          <a:p>
            <a:r>
              <a:rPr lang="pt-BR" sz="3700" b="1" dirty="0" smtClean="0"/>
              <a:t>RECONHECIMENTO </a:t>
            </a:r>
            <a:r>
              <a:rPr lang="pt-BR" sz="3700" b="1" dirty="0"/>
              <a:t>FACIAL: </a:t>
            </a:r>
            <a:r>
              <a:rPr lang="pt-BR" sz="4000" dirty="0"/>
              <a:t/>
            </a:r>
            <a:br>
              <a:rPr lang="pt-BR" sz="4000" dirty="0"/>
            </a:br>
            <a:r>
              <a:rPr lang="pt-BR" sz="3700" dirty="0"/>
              <a:t>Um Estudo Comparativo de Métodos da Biblioteca </a:t>
            </a:r>
            <a:r>
              <a:rPr lang="pt-BR" sz="3700" dirty="0" err="1"/>
              <a:t>OpenCV</a:t>
            </a:r>
            <a:r>
              <a:rPr lang="pt-BR" sz="3700" dirty="0"/>
              <a:t> Utilizando Python</a:t>
            </a:r>
            <a:endParaRPr lang="pt-PT" sz="37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69" cy="914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1900">
                <a:cs typeface="Calibri"/>
              </a:rPr>
              <a:t>Alunos:</a:t>
            </a:r>
            <a:br>
              <a:rPr lang="pt-PT" sz="1900">
                <a:cs typeface="Calibri"/>
              </a:rPr>
            </a:br>
            <a:r>
              <a:rPr lang="pt-PT" sz="1900">
                <a:cs typeface="Calibri"/>
              </a:rPr>
              <a:t>Guilherme Mártires Athias</a:t>
            </a:r>
            <a:br>
              <a:rPr lang="pt-PT" sz="1900">
                <a:cs typeface="Calibri"/>
              </a:rPr>
            </a:br>
            <a:r>
              <a:rPr lang="pt-PT" sz="1900">
                <a:cs typeface="Calibri"/>
              </a:rPr>
              <a:t>Fernando Nazareno Pantoja Rêgo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F879CD-ED15-450F-B829-699C694D2E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DFE0E-A715-4A60-9354-FC75C7A5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Introdução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E0A5F77-B80E-44C6-B669-82B1F06C2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79348"/>
            <a:ext cx="7315200" cy="5120640"/>
          </a:xfrm>
        </p:spPr>
        <p:txBody>
          <a:bodyPr/>
          <a:lstStyle/>
          <a:p>
            <a:pPr algn="just"/>
            <a:r>
              <a:rPr lang="pt-PT" dirty="0" smtClean="0"/>
              <a:t>Reconhecimento facial não é uma tecnologia recente:</a:t>
            </a:r>
          </a:p>
          <a:p>
            <a:pPr lvl="1" algn="just"/>
            <a:r>
              <a:rPr lang="pt-PT" dirty="0" smtClean="0"/>
              <a:t>Evolução crescente no desenvolvimento de algorítmos, métodos.</a:t>
            </a:r>
            <a:endParaRPr lang="pt-PT" dirty="0" smtClean="0"/>
          </a:p>
          <a:p>
            <a:pPr algn="just"/>
            <a:r>
              <a:rPr lang="pt-PT" dirty="0" smtClean="0"/>
              <a:t>É </a:t>
            </a:r>
            <a:r>
              <a:rPr lang="pt-PT" dirty="0"/>
              <a:t>possível observar o uso dessa tecnologia em uma variedade de situações nos dias de hoje:</a:t>
            </a:r>
          </a:p>
          <a:p>
            <a:pPr lvl="1" algn="just"/>
            <a:r>
              <a:rPr lang="pt-PT" dirty="0"/>
              <a:t>Nas redes </a:t>
            </a:r>
            <a:r>
              <a:rPr lang="pt-PT" dirty="0" smtClean="0"/>
              <a:t>sociais;</a:t>
            </a:r>
            <a:endParaRPr lang="pt-PT" dirty="0"/>
          </a:p>
          <a:p>
            <a:pPr lvl="1" algn="just"/>
            <a:r>
              <a:rPr lang="pt-PT" i="1" dirty="0" smtClean="0"/>
              <a:t>FaceID</a:t>
            </a:r>
            <a:r>
              <a:rPr lang="pt-PT" dirty="0"/>
              <a:t>, no iPhone </a:t>
            </a:r>
            <a:r>
              <a:rPr lang="pt-PT" dirty="0" smtClean="0"/>
              <a:t>X;</a:t>
            </a:r>
            <a:r>
              <a:rPr lang="pt-PT" dirty="0"/>
              <a:t> </a:t>
            </a:r>
            <a:endParaRPr lang="pt-PT" dirty="0" smtClean="0"/>
          </a:p>
          <a:p>
            <a:pPr lvl="1" algn="just"/>
            <a:r>
              <a:rPr lang="pt-PT" dirty="0" smtClean="0"/>
              <a:t>Cameras de segurança;</a:t>
            </a:r>
            <a:endParaRPr lang="pt-PT" dirty="0" smtClean="0"/>
          </a:p>
          <a:p>
            <a:pPr lvl="1" algn="just"/>
            <a:r>
              <a:rPr lang="pt-PT" dirty="0" smtClean="0"/>
              <a:t>Sistemas de segurança.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4279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Problema de 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 smtClean="0"/>
              <a:t>Com tantos métodos de reconhecimento facial, torna-se difícil determinar por onde começar, e </a:t>
            </a:r>
            <a:r>
              <a:rPr lang="pt-PT" b="1" dirty="0" smtClean="0"/>
              <a:t>qual método é o ideal para cada sistema e aplicação</a:t>
            </a:r>
            <a:r>
              <a:rPr lang="pt-PT" dirty="0" smtClean="0"/>
              <a:t>. </a:t>
            </a:r>
          </a:p>
          <a:p>
            <a:pPr algn="just"/>
            <a:r>
              <a:rPr lang="pt-PT" dirty="0" smtClean="0"/>
              <a:t>Entre os fatores que podem influenciar na escolha do método de reconhecimento facial estão:</a:t>
            </a:r>
          </a:p>
          <a:p>
            <a:pPr lvl="1" algn="just"/>
            <a:r>
              <a:rPr lang="pt-PT" dirty="0" smtClean="0"/>
              <a:t>Condições de ambiente onde se implementará o sistema;</a:t>
            </a:r>
          </a:p>
          <a:p>
            <a:pPr lvl="1" algn="just"/>
            <a:r>
              <a:rPr lang="pt-PT" dirty="0" smtClean="0"/>
              <a:t>Aspéctos técnicos da imagem de captura;</a:t>
            </a:r>
          </a:p>
          <a:p>
            <a:pPr lvl="1" algn="just"/>
            <a:r>
              <a:rPr lang="pt-PT" dirty="0" smtClean="0"/>
              <a:t>Poder de processamento do hardware que fará o reconhecimento.</a:t>
            </a:r>
          </a:p>
          <a:p>
            <a:pPr algn="just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958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A20D5-16EA-4F2F-9E07-47ACEFDD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Objetivos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16C1227-E10E-43FB-9255-C8CCF38F3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/>
              <a:t>O objetivo deste projeto é</a:t>
            </a:r>
            <a:r>
              <a:rPr lang="pt-PT" dirty="0" smtClean="0"/>
              <a:t>:</a:t>
            </a:r>
            <a:endParaRPr lang="pt-PT" dirty="0"/>
          </a:p>
          <a:p>
            <a:pPr lvl="1"/>
            <a:r>
              <a:rPr lang="pt-BR" dirty="0" smtClean="0"/>
              <a:t>Desenvolver </a:t>
            </a:r>
            <a:r>
              <a:rPr lang="pt-BR" dirty="0"/>
              <a:t>um algoritmo utilizando a linguagem Python que aplique os métodos de reconhecimento facial;</a:t>
            </a:r>
          </a:p>
          <a:p>
            <a:pPr lvl="1"/>
            <a:r>
              <a:rPr lang="pt-BR" dirty="0"/>
              <a:t>Utilizar os algoritmos em três máquinas com poder de processamento diferentes;</a:t>
            </a:r>
          </a:p>
          <a:p>
            <a:pPr lvl="1"/>
            <a:r>
              <a:rPr lang="pt-BR" dirty="0"/>
              <a:t>Gerar gráficos de desempenho para cada técnica e máquina;</a:t>
            </a:r>
          </a:p>
        </p:txBody>
      </p:sp>
    </p:spTree>
    <p:extLst>
      <p:ext uri="{BB962C8B-B14F-4D97-AF65-F5344CB8AC3E}">
        <p14:creationId xmlns:p14="http://schemas.microsoft.com/office/powerpoint/2010/main" val="63227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A4523-D1A5-4C0E-BC25-D1EE2766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Justificativa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734878A-D825-473D-8C93-2B53A80B5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pt-PT" dirty="0" smtClean="0"/>
              <a:t>Artigos e Monografias que comparam tais métodos não abordam sobre as exigências de hardware para a execução destas;</a:t>
            </a:r>
          </a:p>
          <a:p>
            <a:pPr algn="just"/>
            <a:r>
              <a:rPr lang="pt-PT" dirty="0" smtClean="0"/>
              <a:t>Interesse na área de reconhecimento facial para usos práticos, e a utilização dos resultados desta pesquisa servirão de guia para o desenvolvimento de projetos futuros nesta área.</a:t>
            </a:r>
          </a:p>
          <a:p>
            <a:pPr marL="0" indent="0" algn="just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6488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36FFC-AA63-4612-97DD-8B34CAA4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Revisão </a:t>
            </a:r>
            <a:r>
              <a:rPr lang="pt-PT" dirty="0" smtClean="0"/>
              <a:t>Bibliográfica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233433A-EFE2-4C3D-AD77-A2F2A820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PT" dirty="0" smtClean="0"/>
              <a:t>Existem </a:t>
            </a:r>
            <a:r>
              <a:rPr lang="pt-PT" b="1" dirty="0"/>
              <a:t>3 etapas básicas</a:t>
            </a:r>
            <a:r>
              <a:rPr lang="pt-PT" dirty="0"/>
              <a:t> </a:t>
            </a:r>
            <a:r>
              <a:rPr lang="pt-PT" dirty="0" smtClean="0"/>
              <a:t>no processo de reconhecimento:</a:t>
            </a:r>
            <a:endParaRPr lang="pt-BR" dirty="0"/>
          </a:p>
          <a:p>
            <a:pPr lvl="1"/>
            <a:r>
              <a:rPr lang="pt-PT" b="1" dirty="0"/>
              <a:t>Identificar</a:t>
            </a:r>
            <a:r>
              <a:rPr lang="pt-PT" dirty="0"/>
              <a:t> faces na </a:t>
            </a:r>
            <a:r>
              <a:rPr lang="pt-PT" dirty="0" smtClean="0"/>
              <a:t>imagem;</a:t>
            </a:r>
            <a:endParaRPr lang="pt-PT" dirty="0"/>
          </a:p>
          <a:p>
            <a:pPr lvl="1"/>
            <a:r>
              <a:rPr lang="pt-PT" b="1" dirty="0"/>
              <a:t>Extrair</a:t>
            </a:r>
            <a:r>
              <a:rPr lang="pt-PT" dirty="0"/>
              <a:t> características </a:t>
            </a:r>
            <a:r>
              <a:rPr lang="pt-PT" dirty="0" smtClean="0"/>
              <a:t>faciais;</a:t>
            </a:r>
            <a:endParaRPr lang="pt-PT" dirty="0"/>
          </a:p>
          <a:p>
            <a:pPr lvl="1"/>
            <a:r>
              <a:rPr lang="pt-PT" b="1" dirty="0"/>
              <a:t>Reconhecer</a:t>
            </a:r>
            <a:r>
              <a:rPr lang="pt-PT" dirty="0"/>
              <a:t> e </a:t>
            </a:r>
            <a:r>
              <a:rPr lang="pt-PT" dirty="0" smtClean="0"/>
              <a:t>verificar</a:t>
            </a:r>
            <a:r>
              <a:rPr lang="pt-PT" dirty="0" smtClean="0"/>
              <a:t>;</a:t>
            </a:r>
            <a:endParaRPr lang="pt-PT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586" y="109068"/>
            <a:ext cx="5056882" cy="144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71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3B5B5-6BBF-480E-9AB8-225AB5D7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Revisão </a:t>
            </a:r>
            <a:br>
              <a:rPr lang="pt-PT" dirty="0"/>
            </a:br>
            <a:r>
              <a:rPr lang="pt-PT" dirty="0" smtClean="0"/>
              <a:t>Bibliográfica</a:t>
            </a:r>
            <a:r>
              <a:rPr lang="pt-PT" dirty="0"/>
              <a:t/>
            </a:r>
            <a:br>
              <a:rPr lang="pt-PT" dirty="0"/>
            </a:br>
            <a:r>
              <a:rPr lang="pt-PT" sz="2000" dirty="0" smtClean="0"/>
              <a:t>I. Identificar </a:t>
            </a:r>
            <a:r>
              <a:rPr lang="pt-PT" sz="2000" dirty="0"/>
              <a:t>faces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615C57-B20A-4F4D-A6C7-8A1F160C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Primeira etapa:</a:t>
            </a:r>
            <a:endParaRPr lang="pt-BR" b="1" dirty="0"/>
          </a:p>
          <a:p>
            <a:pPr lvl="1">
              <a:spcAft>
                <a:spcPts val="0"/>
              </a:spcAft>
            </a:pPr>
            <a:r>
              <a:rPr lang="pt-BR" b="1" dirty="0"/>
              <a:t>Identificar</a:t>
            </a:r>
            <a:r>
              <a:rPr lang="pt-BR" dirty="0"/>
              <a:t> </a:t>
            </a:r>
            <a:r>
              <a:rPr lang="pt-BR" dirty="0" smtClean="0"/>
              <a:t>as </a:t>
            </a:r>
            <a:r>
              <a:rPr lang="pt-BR" dirty="0"/>
              <a:t>faces </a:t>
            </a:r>
            <a:r>
              <a:rPr lang="pt-BR" dirty="0" smtClean="0"/>
              <a:t>presentes;</a:t>
            </a:r>
            <a:endParaRPr lang="pt-BR" dirty="0"/>
          </a:p>
          <a:p>
            <a:pPr lvl="1">
              <a:spcAft>
                <a:spcPts val="0"/>
              </a:spcAft>
            </a:pPr>
            <a:r>
              <a:rPr lang="pt-BR" b="1" dirty="0" smtClean="0"/>
              <a:t>Eliminar </a:t>
            </a:r>
            <a:r>
              <a:rPr lang="pt-BR" dirty="0" smtClean="0"/>
              <a:t>informações desnecessárias;</a:t>
            </a:r>
            <a:endParaRPr lang="pt-BR" dirty="0"/>
          </a:p>
          <a:p>
            <a:pPr lvl="1">
              <a:spcAft>
                <a:spcPts val="0"/>
              </a:spcAft>
            </a:pPr>
            <a:r>
              <a:rPr lang="pt-BR" b="1" dirty="0" smtClean="0"/>
              <a:t>Categorizar</a:t>
            </a:r>
            <a:r>
              <a:rPr lang="pt-BR" dirty="0" smtClean="0"/>
              <a:t> elementos;</a:t>
            </a:r>
            <a:endParaRPr lang="pt-BR" dirty="0"/>
          </a:p>
          <a:p>
            <a:pPr>
              <a:spcAft>
                <a:spcPts val="0"/>
              </a:spcAft>
            </a:pPr>
            <a:r>
              <a:rPr lang="pt-BR" b="1" dirty="0" smtClean="0"/>
              <a:t>Algoritmo </a:t>
            </a:r>
            <a:r>
              <a:rPr lang="pt-BR" b="1" dirty="0"/>
              <a:t>de </a:t>
            </a:r>
            <a:r>
              <a:rPr lang="pt-BR" b="1" dirty="0" smtClean="0"/>
              <a:t>Viola-Jones</a:t>
            </a:r>
            <a:r>
              <a:rPr lang="pt-BR" dirty="0" smtClean="0"/>
              <a:t>:</a:t>
            </a:r>
          </a:p>
          <a:p>
            <a:pPr lvl="1">
              <a:spcAft>
                <a:spcPts val="0"/>
              </a:spcAft>
            </a:pPr>
            <a:r>
              <a:rPr lang="pt-BR" b="1" dirty="0" smtClean="0"/>
              <a:t>Identifica</a:t>
            </a:r>
            <a:r>
              <a:rPr lang="pt-BR" dirty="0" smtClean="0"/>
              <a:t> qualquer tipo de objeto;</a:t>
            </a:r>
            <a:endParaRPr lang="en-US" dirty="0" smtClean="0"/>
          </a:p>
          <a:p>
            <a:pPr lvl="1"/>
            <a:r>
              <a:rPr lang="pt-BR" dirty="0" smtClean="0"/>
              <a:t>Proporciona </a:t>
            </a:r>
            <a:r>
              <a:rPr lang="pt-BR" b="1" dirty="0" smtClean="0"/>
              <a:t>Agilidade;</a:t>
            </a:r>
            <a:endParaRPr lang="en-US" dirty="0" smtClean="0"/>
          </a:p>
          <a:p>
            <a:pPr lvl="1"/>
            <a:r>
              <a:rPr lang="pt-BR" b="1" dirty="0" smtClean="0"/>
              <a:t>Dificuldade</a:t>
            </a:r>
            <a:r>
              <a:rPr lang="pt-BR" dirty="0" smtClean="0"/>
              <a:t> </a:t>
            </a:r>
            <a:r>
              <a:rPr lang="pt-BR" dirty="0"/>
              <a:t>em identificar </a:t>
            </a:r>
            <a:r>
              <a:rPr lang="pt-BR" dirty="0" smtClean="0"/>
              <a:t>em </a:t>
            </a:r>
            <a:r>
              <a:rPr lang="pt-BR" dirty="0"/>
              <a:t>diferentes </a:t>
            </a:r>
            <a:r>
              <a:rPr lang="pt-BR" dirty="0" smtClean="0"/>
              <a:t>ângulos;</a:t>
            </a:r>
            <a:endParaRPr lang="en-US" dirty="0"/>
          </a:p>
          <a:p>
            <a:pPr lvl="1">
              <a:spcAft>
                <a:spcPts val="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3125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3B5B5-6BBF-480E-9AB8-225AB5D7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Revisão </a:t>
            </a:r>
            <a:br>
              <a:rPr lang="pt-PT" dirty="0"/>
            </a:br>
            <a:r>
              <a:rPr lang="pt-PT" dirty="0" smtClean="0"/>
              <a:t>Bibliográfica</a:t>
            </a:r>
            <a:r>
              <a:rPr lang="pt-PT" dirty="0"/>
              <a:t/>
            </a:r>
            <a:br>
              <a:rPr lang="pt-PT" dirty="0"/>
            </a:br>
            <a:r>
              <a:rPr lang="pt-PT" sz="2000" dirty="0"/>
              <a:t>II. Extrair características, reconhecer e verificar</a:t>
            </a:r>
            <a:endParaRPr lang="pt-BR" sz="20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615C57-B20A-4F4D-A6C7-8A1F160CF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</a:t>
            </a:r>
            <a:r>
              <a:rPr lang="pt-BR" dirty="0" smtClean="0"/>
              <a:t>egunda etapa:</a:t>
            </a:r>
            <a:endParaRPr lang="pt-BR" dirty="0"/>
          </a:p>
          <a:p>
            <a:pPr lvl="1" algn="just"/>
            <a:r>
              <a:rPr lang="pt-BR" b="1" dirty="0"/>
              <a:t>Localizar</a:t>
            </a:r>
            <a:r>
              <a:rPr lang="pt-BR" dirty="0"/>
              <a:t> c</a:t>
            </a:r>
            <a:r>
              <a:rPr lang="pt-BR" dirty="0" smtClean="0"/>
              <a:t>aracterísticas faciais;</a:t>
            </a:r>
            <a:endParaRPr lang="pt-BR" dirty="0"/>
          </a:p>
          <a:p>
            <a:pPr lvl="1" algn="just"/>
            <a:r>
              <a:rPr lang="pt-BR" dirty="0"/>
              <a:t>Difere da detecção </a:t>
            </a:r>
            <a:r>
              <a:rPr lang="pt-BR" dirty="0" smtClean="0"/>
              <a:t>facial;</a:t>
            </a:r>
          </a:p>
          <a:p>
            <a:pPr algn="just"/>
            <a:r>
              <a:rPr lang="pt-BR" dirty="0" smtClean="0"/>
              <a:t>Terceira etapa:</a:t>
            </a:r>
          </a:p>
          <a:p>
            <a:pPr lvl="1" algn="just"/>
            <a:r>
              <a:rPr lang="pt-BR" b="1" dirty="0" smtClean="0"/>
              <a:t>Comparar</a:t>
            </a:r>
            <a:r>
              <a:rPr lang="pt-BR" dirty="0" smtClean="0"/>
              <a:t> </a:t>
            </a:r>
            <a:r>
              <a:rPr lang="pt-BR" dirty="0"/>
              <a:t>os algoritmos </a:t>
            </a:r>
            <a:r>
              <a:rPr lang="pt-BR" dirty="0" smtClean="0"/>
              <a:t>faciais;</a:t>
            </a:r>
          </a:p>
          <a:p>
            <a:pPr lvl="1" algn="just"/>
            <a:r>
              <a:rPr lang="pt-BR" dirty="0" smtClean="0"/>
              <a:t>Aplicada de </a:t>
            </a:r>
            <a:r>
              <a:rPr lang="pt-BR" dirty="0"/>
              <a:t>dois modos: </a:t>
            </a:r>
            <a:endParaRPr lang="pt-BR" dirty="0" smtClean="0"/>
          </a:p>
          <a:p>
            <a:pPr lvl="2" algn="just"/>
            <a:r>
              <a:rPr lang="pt-BR" b="1" dirty="0" smtClean="0"/>
              <a:t>Autenticação;</a:t>
            </a:r>
          </a:p>
          <a:p>
            <a:pPr lvl="2" algn="just"/>
            <a:r>
              <a:rPr lang="pt-BR" b="1" dirty="0" smtClean="0"/>
              <a:t>Identificação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74887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5E148-2E28-4C5B-8314-30AB80351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615257-9EE2-4290-B58F-894D7677F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BRADSKI, Gary; KAEHLER, Adrian. </a:t>
            </a:r>
            <a:r>
              <a:rPr lang="en-US" b="1" dirty="0"/>
              <a:t>Learning </a:t>
            </a:r>
            <a:r>
              <a:rPr lang="en-US" b="1" dirty="0" err="1"/>
              <a:t>OpenCV</a:t>
            </a:r>
            <a:r>
              <a:rPr lang="en-US" b="1" dirty="0"/>
              <a:t> 3: </a:t>
            </a:r>
            <a:r>
              <a:rPr lang="en-US" dirty="0"/>
              <a:t>Computer Vision with the </a:t>
            </a:r>
            <a:r>
              <a:rPr lang="en-US" dirty="0" err="1"/>
              <a:t>OpenCV</a:t>
            </a:r>
            <a:r>
              <a:rPr lang="en-US" dirty="0"/>
              <a:t> Library. </a:t>
            </a:r>
            <a:r>
              <a:rPr lang="pt-BR" dirty="0"/>
              <a:t>Califórnia: </a:t>
            </a:r>
            <a:r>
              <a:rPr lang="pt-BR" dirty="0" err="1"/>
              <a:t>O’reilly</a:t>
            </a:r>
            <a:r>
              <a:rPr lang="pt-BR" dirty="0"/>
              <a:t> Media, Inc., 2016.</a:t>
            </a:r>
          </a:p>
          <a:p>
            <a:r>
              <a:rPr lang="pt-BR" dirty="0"/>
              <a:t>BRAGA, </a:t>
            </a:r>
            <a:r>
              <a:rPr lang="pt-BR" dirty="0" err="1"/>
              <a:t>Luis</a:t>
            </a:r>
            <a:r>
              <a:rPr lang="pt-BR" dirty="0"/>
              <a:t> Felipe </a:t>
            </a:r>
            <a:r>
              <a:rPr lang="pt-BR" dirty="0" err="1"/>
              <a:t>Zenicola</a:t>
            </a:r>
            <a:r>
              <a:rPr lang="pt-BR" dirty="0"/>
              <a:t>. </a:t>
            </a:r>
            <a:r>
              <a:rPr lang="pt-BR" b="1" dirty="0"/>
              <a:t>Sistemas de Reconhecimento Facial. </a:t>
            </a:r>
            <a:r>
              <a:rPr lang="pt-BR" dirty="0"/>
              <a:t>2013. 84 f. Tese (Doutorado) - Curso de Engenharia Elétrica, Universidade de São Paulo, São Carlos, 2013.</a:t>
            </a:r>
          </a:p>
          <a:p>
            <a:r>
              <a:rPr lang="en-US" dirty="0"/>
              <a:t>CAWLEY, Christian. </a:t>
            </a:r>
            <a:r>
              <a:rPr lang="en-US" b="1" dirty="0"/>
              <a:t>20 Awesome Uses for a Raspberry Pi. </a:t>
            </a:r>
            <a:r>
              <a:rPr lang="en-US" dirty="0"/>
              <a:t>2018. </a:t>
            </a:r>
            <a:r>
              <a:rPr lang="pt-BR" dirty="0"/>
              <a:t>Disponível em: &lt;https://www.makeuseof.com/tag/different-uses-raspberry-pi/&gt;. Acesso em: 21 jan. 2019.</a:t>
            </a:r>
          </a:p>
          <a:p>
            <a:r>
              <a:rPr lang="pt-BR" dirty="0"/>
              <a:t>GALIMBERTI, Luiz Henrique de Oliveira. </a:t>
            </a:r>
            <a:r>
              <a:rPr lang="pt-BR" b="1" dirty="0"/>
              <a:t>Estudo Comparativo de Algoritmos de Biometria Facial Disponibilizados pela Biblioteca </a:t>
            </a:r>
            <a:r>
              <a:rPr lang="pt-BR" b="1" dirty="0" err="1"/>
              <a:t>OpenCV</a:t>
            </a:r>
            <a:r>
              <a:rPr lang="pt-BR" b="1" dirty="0"/>
              <a:t> para Controle de Acesso. </a:t>
            </a:r>
            <a:r>
              <a:rPr lang="pt-BR" dirty="0"/>
              <a:t>2018. 62 f. TCC (Graduação) - Curso de Engenharia da Computação, Universidade do Vale do Taquari, Lajeado, 2018.</a:t>
            </a:r>
          </a:p>
          <a:p>
            <a:r>
              <a:rPr lang="en-US" dirty="0"/>
              <a:t>GATES, Kelly A. </a:t>
            </a:r>
            <a:r>
              <a:rPr lang="en-US" b="1" dirty="0"/>
              <a:t>Our Biometric Future: </a:t>
            </a:r>
            <a:r>
              <a:rPr lang="en-US" dirty="0"/>
              <a:t>Facial Recognition Technology and the Culture of Surveillance. New York: New York University Press, 2011. 263 p.</a:t>
            </a:r>
            <a:endParaRPr lang="pt-BR" dirty="0"/>
          </a:p>
          <a:p>
            <a:r>
              <a:rPr lang="en-US" dirty="0"/>
              <a:t>GEITGEY, Adam. </a:t>
            </a:r>
            <a:r>
              <a:rPr lang="en-US" b="1" dirty="0"/>
              <a:t>Machine Learning is Fun: </a:t>
            </a:r>
            <a:r>
              <a:rPr lang="en-US" dirty="0"/>
              <a:t>Modern Face Recognition with Deep Learning. </a:t>
            </a:r>
            <a:r>
              <a:rPr lang="pt-BR" dirty="0"/>
              <a:t>2016. Disponível em: &lt;https://medium.com/@ageitgey/machine-learning-is-fun-part-4-modern-face-recognition-with-deep-learning-c3cffc121d78&gt;. Acesso em: 04 fev. 2019.</a:t>
            </a:r>
          </a:p>
          <a:p>
            <a:r>
              <a:rPr lang="pt-BR" dirty="0"/>
              <a:t>HEIN, Werner. </a:t>
            </a:r>
            <a:r>
              <a:rPr lang="pt-BR" dirty="0" err="1"/>
              <a:t>Raspberry</a:t>
            </a:r>
            <a:r>
              <a:rPr lang="pt-BR" dirty="0"/>
              <a:t> </a:t>
            </a:r>
            <a:r>
              <a:rPr lang="pt-BR" dirty="0" err="1"/>
              <a:t>Pi</a:t>
            </a:r>
            <a:r>
              <a:rPr lang="pt-BR" dirty="0"/>
              <a:t> aplicado a projetos do mundo real. </a:t>
            </a:r>
            <a:r>
              <a:rPr lang="en-US" dirty="0"/>
              <a:t>Linux Magazine. 2013. 82p.</a:t>
            </a:r>
            <a:endParaRPr lang="pt-BR" dirty="0"/>
          </a:p>
          <a:p>
            <a:r>
              <a:rPr lang="en-US" dirty="0"/>
              <a:t>PARMAR, </a:t>
            </a:r>
            <a:r>
              <a:rPr lang="en-US" dirty="0" err="1"/>
              <a:t>Divyarajsinh</a:t>
            </a:r>
            <a:r>
              <a:rPr lang="en-US" dirty="0"/>
              <a:t> N.; MEHTA, </a:t>
            </a:r>
            <a:r>
              <a:rPr lang="en-US" dirty="0" err="1"/>
              <a:t>Brijesh</a:t>
            </a:r>
            <a:r>
              <a:rPr lang="en-US" dirty="0"/>
              <a:t> B. Face Recognition Methods &amp; Applications. </a:t>
            </a:r>
            <a:r>
              <a:rPr lang="en-US" b="1" dirty="0"/>
              <a:t>International Journal of Computer Applications in Technology</a:t>
            </a:r>
            <a:r>
              <a:rPr lang="en-US" dirty="0"/>
              <a:t>, </a:t>
            </a:r>
            <a:r>
              <a:rPr lang="en-US" dirty="0" err="1"/>
              <a:t>Wadhwan</a:t>
            </a:r>
            <a:r>
              <a:rPr lang="en-US" dirty="0"/>
              <a:t>, v. 1, n. 4, p.84-86, </a:t>
            </a:r>
            <a:r>
              <a:rPr lang="en-US" dirty="0" err="1"/>
              <a:t>jan.</a:t>
            </a:r>
            <a:r>
              <a:rPr lang="en-US" dirty="0"/>
              <a:t> 2014.</a:t>
            </a:r>
            <a:endParaRPr lang="pt-BR" dirty="0"/>
          </a:p>
          <a:p>
            <a:r>
              <a:rPr lang="pt-BR" dirty="0"/>
              <a:t>SCHMIDT, Ana Elisa; NOGUEIRA, Elvis Cordeiro. </a:t>
            </a:r>
            <a:r>
              <a:rPr lang="pt-BR" b="1" dirty="0"/>
              <a:t>ESTUDO SOBRE MÉTODOS DE RECONHECIMENTO FACIAL EM FOTOGRAFIAS DIGITAIS. </a:t>
            </a:r>
            <a:r>
              <a:rPr lang="en-US" dirty="0"/>
              <a:t>2015, </a:t>
            </a:r>
            <a:r>
              <a:rPr lang="en-US" dirty="0" err="1"/>
              <a:t>Instituto</a:t>
            </a:r>
            <a:r>
              <a:rPr lang="en-US" dirty="0"/>
              <a:t> Federal </a:t>
            </a:r>
            <a:r>
              <a:rPr lang="en-US" dirty="0" err="1"/>
              <a:t>Catarinense</a:t>
            </a:r>
            <a:r>
              <a:rPr lang="en-US" dirty="0"/>
              <a:t>, </a:t>
            </a:r>
            <a:r>
              <a:rPr lang="en-US" dirty="0" err="1"/>
              <a:t>Camboriú</a:t>
            </a:r>
            <a:r>
              <a:rPr lang="en-US" dirty="0"/>
              <a:t>, 2015.</a:t>
            </a:r>
            <a:endParaRPr lang="pt-BR" dirty="0"/>
          </a:p>
          <a:p>
            <a:r>
              <a:rPr lang="en-US" dirty="0"/>
              <a:t>VIOLA, Paul; JONES, Michael. </a:t>
            </a:r>
            <a:r>
              <a:rPr lang="en-US" b="1" dirty="0"/>
              <a:t>Rapid Object Detection Using a Boosted Cascade of Simple Features. </a:t>
            </a:r>
            <a:r>
              <a:rPr lang="en-US" dirty="0"/>
              <a:t>2001. 9 f, Cambridge, 2001.</a:t>
            </a:r>
            <a:endParaRPr lang="pt-BR" dirty="0"/>
          </a:p>
          <a:p>
            <a:r>
              <a:rPr lang="en-US" dirty="0"/>
              <a:t>WEST, Jesse Davis. </a:t>
            </a:r>
            <a:r>
              <a:rPr lang="en-US" b="1" dirty="0"/>
              <a:t>A BRIEF HISTORY OF FACE RECOGNITION. </a:t>
            </a:r>
            <a:r>
              <a:rPr lang="pt-BR" dirty="0"/>
              <a:t>2017. Disponível em: &lt;https://www.facefirst.com/blog/brief-history-of-face-recognition-software/&gt;. Acesso em: 29 jan. 2019.</a:t>
            </a:r>
          </a:p>
        </p:txBody>
      </p:sp>
    </p:spTree>
    <p:extLst>
      <p:ext uri="{BB962C8B-B14F-4D97-AF65-F5344CB8AC3E}">
        <p14:creationId xmlns:p14="http://schemas.microsoft.com/office/powerpoint/2010/main" val="3873094665"/>
      </p:ext>
    </p:extLst>
  </p:cSld>
  <p:clrMapOvr>
    <a:masterClrMapping/>
  </p:clrMapOvr>
</p:sld>
</file>

<file path=ppt/theme/theme1.xml><?xml version="1.0" encoding="utf-8"?>
<a:theme xmlns:a="http://schemas.openxmlformats.org/drawingml/2006/main" name="Moldura">
  <a:themeElements>
    <a:clrScheme name="Moldura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oldura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ld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182</TotalTime>
  <Words>372</Words>
  <Application>Microsoft Office PowerPoint</Application>
  <PresentationFormat>Widescreen</PresentationFormat>
  <Paragraphs>59</Paragraphs>
  <Slides>9</Slides>
  <Notes>0</Notes>
  <HiddenSlides>3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Calibri</vt:lpstr>
      <vt:lpstr>Corbel</vt:lpstr>
      <vt:lpstr>Wingdings 2</vt:lpstr>
      <vt:lpstr>Moldura</vt:lpstr>
      <vt:lpstr>RECONHECIMENTO FACIAL:  Um Estudo Comparativo de Métodos da Biblioteca OpenCV Utilizando Python</vt:lpstr>
      <vt:lpstr>Introdução</vt:lpstr>
      <vt:lpstr>Problema de Pesquisa</vt:lpstr>
      <vt:lpstr>Objetivos</vt:lpstr>
      <vt:lpstr>Justificativa</vt:lpstr>
      <vt:lpstr>Revisão Bibliográfica</vt:lpstr>
      <vt:lpstr>Revisão  Bibliográfica I. Identificar faces</vt:lpstr>
      <vt:lpstr>Revisão  Bibliográfica II. Extrair características, reconhecer e verificar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</dc:title>
  <dc:creator/>
  <cp:lastModifiedBy>Aluno</cp:lastModifiedBy>
  <cp:revision>583</cp:revision>
  <dcterms:created xsi:type="dcterms:W3CDTF">2012-08-15T17:17:20Z</dcterms:created>
  <dcterms:modified xsi:type="dcterms:W3CDTF">2019-06-03T19:06:38Z</dcterms:modified>
</cp:coreProperties>
</file>